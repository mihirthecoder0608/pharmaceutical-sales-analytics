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0F233E"/>
          </a:solidFill>
          <a:ln>
            <a:solidFill>
              <a:srgbClr val="0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6949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8CC8FF"/>
                </a:solidFill>
                <a:latin typeface="Aptos"/>
              </a:defRPr>
            </a:pPr>
            <a:r>
              <a:t>DETAILED ANALYTICS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708660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Pharmaceutical Sales</a:t>
            </a:r>
            <a:br/>
            <a:r>
              <a:t>Performance &amp; Market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46120"/>
            <a:ext cx="6629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0">
                <a:solidFill>
                  <a:srgbClr val="DCE7F5"/>
                </a:solidFill>
                <a:latin typeface="Aptos"/>
              </a:defRPr>
            </a:pPr>
            <a:r>
              <a:t>A complete storyline: business questions → data → KPI framework → SQL analysis → insights →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4434840"/>
            <a:ext cx="3063240" cy="54864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736592"/>
            <a:ext cx="6492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B9CDE5"/>
                </a:solidFill>
                <a:latin typeface="Aptos"/>
              </a:defRPr>
            </a:pPr>
            <a:r>
              <a:t>MySQL 8.0+  |  Power BI  |  Synthetic 2024–2025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89320"/>
            <a:ext cx="62179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Prepared by Mihir Mishra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960120"/>
            <a:ext cx="2697480" cy="960120"/>
          </a:xfrm>
          <a:prstGeom prst="roundRect">
            <a:avLst>
              <a:gd name="adj" fmla="val 12000"/>
            </a:avLst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6528" y="1088136"/>
            <a:ext cx="2478024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1353312"/>
            <a:ext cx="247802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$189.61M*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148840"/>
            <a:ext cx="1261872" cy="960120"/>
          </a:xfrm>
          <a:prstGeom prst="roundRect">
            <a:avLst>
              <a:gd name="adj" fmla="val 12000"/>
            </a:avLst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6528" y="2276856"/>
            <a:ext cx="1042415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Aptos"/>
              </a:defRPr>
            </a:pPr>
            <a:r>
              <a:t>ACHIEVEMENT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542032"/>
            <a:ext cx="1042415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99.88%*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20" y="2148840"/>
            <a:ext cx="1280160" cy="960120"/>
          </a:xfrm>
          <a:prstGeom prst="roundRect">
            <a:avLst>
              <a:gd name="adj" fmla="val 12000"/>
            </a:avLst>
          </a:prstGeom>
          <a:solidFill>
            <a:srgbClr val="EB973E"/>
          </a:solidFill>
          <a:ln>
            <a:solidFill>
              <a:srgbClr val="EB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13848" y="2276856"/>
            <a:ext cx="1060704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Aptos"/>
              </a:defRPr>
            </a:pPr>
            <a:r>
              <a:t>YOY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13848" y="2542032"/>
            <a:ext cx="1060704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1.13%*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337560"/>
            <a:ext cx="2697480" cy="1188720"/>
          </a:xfrm>
          <a:prstGeom prst="roundRect">
            <a:avLst>
              <a:gd name="adj" fmla="val 12000"/>
            </a:avLst>
          </a:prstGeom>
          <a:solidFill>
            <a:srgbClr val="203E62"/>
          </a:solidFill>
          <a:ln>
            <a:solidFill>
              <a:srgbClr val="20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96528" y="3465576"/>
            <a:ext cx="2478024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Aptos"/>
              </a:defRPr>
            </a:pPr>
            <a:r>
              <a:t>KEY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3730752"/>
            <a:ext cx="247802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Where are the gaps?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892040"/>
            <a:ext cx="26517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B9CDE5"/>
                </a:solidFill>
                <a:latin typeface="Aptos"/>
              </a:defRPr>
            </a:pPr>
            <a:r>
              <a:t>*Illustrative results from the current synthetic dataset; verify against final query output.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01 /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Executive story: what this analysis is meant to reveal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44752"/>
            <a:ext cx="349300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44752"/>
            <a:ext cx="68580" cy="1261872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81912"/>
            <a:ext cx="31455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The business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47672"/>
            <a:ext cx="3145536" cy="667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Sales leaders need to know not just how much was sold, but whether targets were met and where gaps originate.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44752"/>
            <a:ext cx="349300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44752"/>
            <a:ext cx="68580" cy="1261872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455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The analytical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47672"/>
            <a:ext cx="3145536" cy="667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Use SQL to validate and aggregate transactions, then Power BI to compare performance across time, products, regions, channels and reps.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444752"/>
            <a:ext cx="349300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444752"/>
            <a:ext cx="68580" cy="1261872"/>
          </a:xfrm>
          <a:prstGeom prst="rect">
            <a:avLst/>
          </a:prstGeom>
          <a:solidFill>
            <a:srgbClr val="EB973E"/>
          </a:solidFill>
          <a:ln>
            <a:solidFill>
              <a:srgbClr val="EB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1581912"/>
            <a:ext cx="31455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The intended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1947672"/>
            <a:ext cx="3145536" cy="667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Prioritize follow-up investigations, support target management and create a repeatable KPI review process.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10789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42D4E"/>
                </a:solidFill>
                <a:latin typeface="Aptos"/>
              </a:defRPr>
            </a:pPr>
            <a:r>
              <a:t>Illustrative headline metrics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47872"/>
            <a:ext cx="257860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75887"/>
            <a:ext cx="23957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2476C7"/>
                </a:solidFill>
                <a:latin typeface="Aptos"/>
              </a:defRPr>
            </a:pPr>
            <a:r>
              <a:t>$189.61M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239572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142D4E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61688"/>
            <a:ext cx="2395728" cy="210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0">
                <a:solidFill>
                  <a:srgbClr val="5D6C7D"/>
                </a:solidFill>
                <a:latin typeface="Aptos"/>
              </a:defRPr>
            </a:pPr>
            <a:r>
              <a:t>Revenue summed across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84448" y="3547872"/>
            <a:ext cx="257860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7" y="3675887"/>
            <a:ext cx="23957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2476C7"/>
                </a:solidFill>
                <a:latin typeface="Aptos"/>
              </a:defRPr>
            </a:pPr>
            <a:r>
              <a:t>99.88%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4069080"/>
            <a:ext cx="239572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142D4E"/>
                </a:solidFill>
                <a:latin typeface="Aptos"/>
              </a:defRPr>
            </a:pPr>
            <a:r>
              <a:t>Target achievement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7" y="4361688"/>
            <a:ext cx="2395728" cy="210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0">
                <a:solidFill>
                  <a:srgbClr val="5D6C7D"/>
                </a:solidFill>
                <a:latin typeface="Aptos"/>
              </a:defRPr>
            </a:pPr>
            <a:r>
              <a:t>Revenue ÷ 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7376" y="3547872"/>
            <a:ext cx="257860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675887"/>
            <a:ext cx="23957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BE4141"/>
                </a:solidFill>
                <a:latin typeface="Aptos"/>
              </a:defRPr>
            </a:pPr>
            <a:r>
              <a:t>$−0.23M*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69080"/>
            <a:ext cx="239572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142D4E"/>
                </a:solidFill>
                <a:latin typeface="Aptos"/>
              </a:defRPr>
            </a:pPr>
            <a:r>
              <a:t>Revenue variance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4361688"/>
            <a:ext cx="2395728" cy="210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0">
                <a:solidFill>
                  <a:srgbClr val="5D6C7D"/>
                </a:solidFill>
                <a:latin typeface="Aptos"/>
              </a:defRPr>
            </a:pPr>
            <a:r>
              <a:t>Revenue minus target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90304" y="3547872"/>
            <a:ext cx="257860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81744" y="3675887"/>
            <a:ext cx="23957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2476C7"/>
                </a:solidFill>
                <a:latin typeface="Aptos"/>
              </a:defRPr>
            </a:pPr>
            <a:r>
              <a:t>~1.13%*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4069080"/>
            <a:ext cx="239572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142D4E"/>
                </a:solidFill>
                <a:latin typeface="Aptos"/>
              </a:defRPr>
            </a:pPr>
            <a:r>
              <a:t>YoY revenue growth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4361688"/>
            <a:ext cx="2395728" cy="2103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0">
                <a:solidFill>
                  <a:srgbClr val="5D6C7D"/>
                </a:solidFill>
                <a:latin typeface="Aptos"/>
              </a:defRPr>
            </a:pPr>
            <a:r>
              <a:t>2025 vs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16636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Executive takeaway: overall sales are close to plan, so the most useful next step is to diagnose the smaller gaps by segment and representative—not to assume a single cause.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961888"/>
            <a:ext cx="10607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D6C7D"/>
                </a:solidFill>
                <a:latin typeface="Aptos"/>
              </a:defRPr>
            </a:pPr>
            <a:r>
              <a:t>*Approximate figures based on prior generated-data outputs; confirm against final MySQL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02 / QUESTIONS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Business questions and decision use-cases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44752"/>
            <a:ext cx="523036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44752"/>
            <a:ext cx="68580" cy="1261872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81912"/>
            <a:ext cx="48828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Are we meeting targets?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4882896" cy="667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01 • PERFORMANCE</a:t>
            </a:r>
            <a:br/>
            <a:r>
              <a:t>Total revenue, target, variance and achievement rate; highlight overall and local shortfalls.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444752"/>
            <a:ext cx="523036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444752"/>
            <a:ext cx="68580" cy="1261872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581912"/>
            <a:ext cx="48828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What contributes most?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47672"/>
            <a:ext cx="4882896" cy="667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02 • REVENUE DRIVERS</a:t>
            </a:r>
            <a:br/>
            <a:r>
              <a:t>Compare products, regions, therapy areas, customer segments and channels by revenue and units.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980944"/>
            <a:ext cx="523036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2980944"/>
            <a:ext cx="68580" cy="1261872"/>
          </a:xfrm>
          <a:prstGeom prst="rect">
            <a:avLst/>
          </a:prstGeom>
          <a:solidFill>
            <a:srgbClr val="EB973E"/>
          </a:solidFill>
          <a:ln>
            <a:solidFill>
              <a:srgbClr val="EB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118103"/>
            <a:ext cx="48828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Where does performance differ?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483863"/>
            <a:ext cx="4882896" cy="667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03 • SALES EXECUTION</a:t>
            </a:r>
            <a:br/>
            <a:r>
              <a:t>Rank representatives and compare revenue, target, units and average revenue per 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2980944"/>
            <a:ext cx="523036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2980944"/>
            <a:ext cx="68580" cy="1261872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118103"/>
            <a:ext cx="48828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Is performance improving?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483863"/>
            <a:ext cx="4882896" cy="667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04 • TIME &amp; CHANGE</a:t>
            </a:r>
            <a:br/>
            <a:r>
              <a:t>Track monthly revenue vs target and year-over-year growth; distinguish trend from one-off movement.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517136"/>
            <a:ext cx="523036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4517136"/>
            <a:ext cx="68580" cy="1261872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654296"/>
            <a:ext cx="48828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Where should we investigate?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020055"/>
            <a:ext cx="4882896" cy="667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05 • DIAGNOSIS</a:t>
            </a:r>
            <a:br/>
            <a:r>
              <a:t>Find below-target months and region–drug combinations; use these as leads, not proof of causes.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4517136"/>
            <a:ext cx="5230368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36792" y="4517136"/>
            <a:ext cx="68580" cy="1261872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654296"/>
            <a:ext cx="48828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What should management do next?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5020055"/>
            <a:ext cx="4882896" cy="667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06 • ACTION</a:t>
            </a:r>
            <a:br/>
            <a:r>
              <a:t>Set focused follow-ups, monitor a concise scorecard and validate recommendations with operational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03 /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Dataset profile: what the analysis can and cannot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020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100" b="1">
                <a:solidFill>
                  <a:srgbClr val="2476C7"/>
                </a:solidFill>
                <a:latin typeface="Aptos"/>
              </a:defRPr>
            </a:pPr>
            <a:r>
              <a:t>~20,000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65960"/>
            <a:ext cx="23774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5D6C7D"/>
                </a:solidFill>
                <a:latin typeface="Aptos"/>
              </a:defRPr>
            </a:pPr>
            <a:r>
              <a:t>records*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463040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100" b="1">
                <a:solidFill>
                  <a:srgbClr val="2476C7"/>
                </a:solidFill>
                <a:latin typeface="Aptos"/>
              </a:defRPr>
            </a:pPr>
            <a:r>
              <a:t>2024–2025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65960"/>
            <a:ext cx="23774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5D6C7D"/>
                </a:solidFill>
                <a:latin typeface="Aptos"/>
              </a:defRPr>
            </a:pPr>
            <a:r>
              <a:t>time span*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1463040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60020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100" b="1">
                <a:solidFill>
                  <a:srgbClr val="2476C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965960"/>
            <a:ext cx="23774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5D6C7D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5" y="1463040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3455" y="160020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100" b="1">
                <a:solidFill>
                  <a:srgbClr val="2476C7"/>
                </a:solidFill>
                <a:latin typeface="Aptos"/>
              </a:defRPr>
            </a:pPr>
            <a:r>
              <a:t>USD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5" y="1965960"/>
            <a:ext cx="23774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5D6C7D"/>
                </a:solidFill>
                <a:latin typeface="Aptos"/>
              </a:defRPr>
            </a:pPr>
            <a:r>
              <a:t>currency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6517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2651760"/>
            <a:ext cx="68580" cy="2194560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788920"/>
            <a:ext cx="486460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Dimensions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154680"/>
            <a:ext cx="4864608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43041"/>
                </a:solidFill>
                <a:latin typeface="Aptos"/>
              </a:defRPr>
            </a:pPr>
            <a:r>
              <a:t>• Date</a:t>
            </a:r>
            <a:br/>
            <a:r>
              <a:t>• Region, Drug, Therapy_Area</a:t>
            </a:r>
            <a:br/>
            <a:r>
              <a:t>• Sales_Rep_ID, Channel</a:t>
            </a:r>
            <a:br/>
            <a:r>
              <a:t>• Customer_Segment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6517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2651760"/>
            <a:ext cx="68580" cy="2194560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788920"/>
            <a:ext cx="486460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Measures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154680"/>
            <a:ext cx="4864608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43041"/>
                </a:solidFill>
                <a:latin typeface="Aptos"/>
              </a:defRPr>
            </a:pPr>
            <a:r>
              <a:t>• Units_Sold, Unit_Price_USD</a:t>
            </a:r>
            <a:br/>
            <a:r>
              <a:t>• Sales_Revenue_USD, Sales_Target_USD</a:t>
            </a:r>
            <a:br/>
            <a:r>
              <a:t>• Derived: variance, achievement %, contribution, average revenue/order, YoY growth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212080"/>
            <a:ext cx="10625328" cy="731520"/>
          </a:xfrm>
          <a:prstGeom prst="roundRect">
            <a:avLst>
              <a:gd name="adj" fmla="val 12000"/>
            </a:avLst>
          </a:prstGeom>
          <a:solidFill>
            <a:srgbClr val="FFF4E1"/>
          </a:solidFill>
          <a:ln>
            <a:solidFill>
              <a:srgbClr val="FFF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358384"/>
            <a:ext cx="10241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7D4F14"/>
                </a:solidFill>
                <a:latin typeface="Aptos"/>
              </a:defRPr>
            </a:pPr>
            <a:r>
              <a:t>Data grain must be confirmed: the script checks duplicate Order_IDs but does not assume every order ID must be unique. The source is synthetic, with no cost, margin, inventory or market-share variables.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80760"/>
            <a:ext cx="106070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D6C7D"/>
                </a:solidFill>
                <a:latin typeface="Aptos"/>
              </a:defRPr>
            </a:pPr>
            <a:r>
              <a:t>*Record count and date coverage should be verified in the database before final 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04 / DATA QUALITY &amp;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Analysis workflow: validate before interpreting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8988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9047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408176"/>
            <a:ext cx="21488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Profile the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408176"/>
            <a:ext cx="740664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Count records and distinct orders; inspect min/max dates and category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39696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240279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157984"/>
            <a:ext cx="21488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Check 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57984"/>
            <a:ext cx="740664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Find null IDs, dates, regions, products, units, prices, revenue and targets.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89504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990088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07792"/>
            <a:ext cx="21488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Check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907792"/>
            <a:ext cx="740664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Flag duplicate order IDs and compare recorded revenue with units × unit price.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3931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739896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657600"/>
            <a:ext cx="21488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Standardize the analysis grain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657600"/>
            <a:ext cx="740664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Aggregate by month, region, drug, channel, segment and representative.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8912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4489704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407407"/>
            <a:ext cx="21488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Calculate comparable KPIs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407407"/>
            <a:ext cx="740664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Use revenue and target sums; divide only after aggregation; guard against zero denominators.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138927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5239512"/>
            <a:ext cx="457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57215"/>
            <a:ext cx="214884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Review 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157215"/>
            <a:ext cx="740664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Check unusual values, filter behavior and agreement between SQL and Power BI.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989320"/>
            <a:ext cx="1060704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035040"/>
            <a:ext cx="102412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D6C7D"/>
                </a:solidFill>
                <a:latin typeface="Aptos"/>
              </a:defRPr>
            </a:pPr>
            <a:r>
              <a:t>Important: duplicate detection is a review step. Do not delete records without understanding the source grain.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05 / KPI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KPI framework: definitions, interpretation and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17320"/>
          <a:ext cx="109270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  <a:gridCol w="2468880"/>
                <a:gridCol w="4160520"/>
              </a:tblGrid>
              <a:tr h="497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KPI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Calculation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Business meaning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 / guardrail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Total revenue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SUM(Sales_Revenue_USD)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Overall sales scale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Not profit; costs are absent.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Total target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SUM(Sales_Target_USD)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Sales plan baseline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Confirm targets are additive at row grain.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Revenue variance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Revenue − Target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Absolute gap in USD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Negative = shortfall; positive = above target.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Target achievement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Revenue ÷ Target × 100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Relative target performance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Aggregate sums first; protect against zero target.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Revenue contribution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Category revenue ÷ total revenue × 100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Product / region / channel mix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Use denominator consistent with slicers and business question.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Units sold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SUM(Units_Sold)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Sales volume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Unit mix and price can differ across products.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Avg. revenue/order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Revenue ÷ distinct orders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Average order value proxy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Valid only if Order_ID is an appropriate order key.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YoY growth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(Current − prior) ÷ prior × 100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Yearly revenue change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Compare like-for-like periods where possible.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8" y="6016752"/>
            <a:ext cx="10698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D6C7D"/>
                </a:solidFill>
                <a:latin typeface="Aptos"/>
              </a:defRPr>
            </a:pPr>
            <a:r>
              <a:t>Use percentage formatting for achievement and contribution; use currency formatting for revenue, target and variance.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06 / MYSQL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SQL analysis: from raw rows to diagnostic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44752"/>
            <a:ext cx="350215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44752"/>
            <a:ext cx="68580" cy="1417320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81912"/>
            <a:ext cx="3154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47672"/>
            <a:ext cx="31546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GROUP BY + SUM / COUNT</a:t>
            </a:r>
            <a:br/>
            <a:r>
              <a:t>Compare revenue and targets at each business dimension.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44752"/>
            <a:ext cx="350215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44752"/>
            <a:ext cx="68580" cy="1417320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154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Time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47672"/>
            <a:ext cx="31546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DATE_FORMAT + YEAR + LAG()</a:t>
            </a:r>
            <a:br/>
            <a:r>
              <a:t>Build monthly trends and year-over-year comparisons.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44752"/>
            <a:ext cx="350215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44752"/>
            <a:ext cx="68580" cy="1417320"/>
          </a:xfrm>
          <a:prstGeom prst="rect">
            <a:avLst/>
          </a:prstGeom>
          <a:solidFill>
            <a:srgbClr val="EB973E"/>
          </a:solidFill>
          <a:ln>
            <a:solidFill>
              <a:srgbClr val="EB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581912"/>
            <a:ext cx="3154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Exception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947672"/>
            <a:ext cx="31546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HAVING + ORDER BY + LIMIT</a:t>
            </a:r>
            <a:br/>
            <a:r>
              <a:t>Surface below-target periods and top/bottom performers.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246120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42D4E"/>
                </a:solidFill>
                <a:latin typeface="Aptos"/>
              </a:defRPr>
            </a:pPr>
            <a:r>
              <a:t>Analytical outputs produced by the SQL 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657600"/>
            <a:ext cx="5166360" cy="2057400"/>
          </a:xfrm>
          <a:prstGeom prst="rect">
            <a:avLst/>
          </a:prstGeom>
          <a:noFill/>
        </p:spPr>
        <p:txBody>
          <a:bodyPr wrap="square" lIns="54864" rIns="36576" tIns="27432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Executive KPI snapshot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Monthly revenue vs target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Yearly revenue and YoY growth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Region and drug scorecards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Therapy area and customer-segment summaries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657600"/>
            <a:ext cx="5029200" cy="2057400"/>
          </a:xfrm>
          <a:prstGeom prst="rect">
            <a:avLst/>
          </a:prstGeom>
          <a:noFill/>
        </p:spPr>
        <p:txBody>
          <a:bodyPr wrap="square" lIns="54864" rIns="36576" tIns="27432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Representative scorecard and below-target list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Channel contribution and unit sales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Region × drug performance matrix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Monthly underperformance list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Representative-level scatter plot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6984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D6C7D"/>
                </a:solidFill>
                <a:latin typeface="Aptos"/>
              </a:defRPr>
            </a:pPr>
            <a:r>
              <a:t>Database: pharma_analytics  |  Table: pharma_sales_analytics_dataset  |  MySQL 8.0+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07 / DASHBOARD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Power BI: three pages, three levels of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35021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36192"/>
            <a:ext cx="68580" cy="3520440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73351"/>
            <a:ext cx="3154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01 • Executive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39112"/>
            <a:ext cx="315468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KPI cards:</a:t>
            </a:r>
            <a:br/>
            <a:r>
              <a:t>• Total Revenue</a:t>
            </a:r>
            <a:br/>
            <a:r>
              <a:t>• Total Target</a:t>
            </a:r>
            <a:br/>
            <a:r>
              <a:t>• Achievement %</a:t>
            </a:r>
            <a:br/>
            <a:r>
              <a:t>• Revenue Variance</a:t>
            </a:r>
            <a:br/>
            <a:r>
              <a:t>• Total Orders</a:t>
            </a:r>
            <a:br/>
            <a:br/>
            <a:r>
              <a:t>Visuals: monthly revenue vs target, revenue by region; slicers for date, region and drug.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36192"/>
            <a:ext cx="35021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36192"/>
            <a:ext cx="68580" cy="3520440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73351"/>
            <a:ext cx="3154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02 • Product &amp;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39112"/>
            <a:ext cx="315468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Visuals:</a:t>
            </a:r>
            <a:br/>
            <a:r>
              <a:t>• Revenue by Drug</a:t>
            </a:r>
            <a:br/>
            <a:r>
              <a:t>• Revenue Contribution by Drug</a:t>
            </a:r>
            <a:br/>
            <a:r>
              <a:t>• Achievement by Drug</a:t>
            </a:r>
            <a:br/>
            <a:r>
              <a:t>• Units Sold by Drug</a:t>
            </a:r>
            <a:br/>
            <a:r>
              <a:t>• Product summary table</a:t>
            </a:r>
            <a:br/>
            <a:r>
              <a:t>• Region × Drug matrix</a:t>
            </a:r>
            <a:br/>
            <a:br/>
            <a:r>
              <a:t>Purpose: product mix and localized performance gaps.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36192"/>
            <a:ext cx="3502152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536192"/>
            <a:ext cx="68580" cy="3520440"/>
          </a:xfrm>
          <a:prstGeom prst="rect">
            <a:avLst/>
          </a:prstGeom>
          <a:solidFill>
            <a:srgbClr val="EB973E"/>
          </a:solidFill>
          <a:ln>
            <a:solidFill>
              <a:srgbClr val="EB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673351"/>
            <a:ext cx="3154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03 • Sales Force &amp;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039112"/>
            <a:ext cx="315468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Visuals:</a:t>
            </a:r>
            <a:br/>
            <a:r>
              <a:t>• Revenue by representative</a:t>
            </a:r>
            <a:br/>
            <a:r>
              <a:t>• Revenue by Channel</a:t>
            </a:r>
            <a:br/>
            <a:r>
              <a:t>• Units by Channel</a:t>
            </a:r>
            <a:br/>
            <a:r>
              <a:t>• Revenue vs Target scatter plot</a:t>
            </a:r>
            <a:br/>
            <a:r>
              <a:t>• Representative scorecard</a:t>
            </a:r>
            <a:br/>
            <a:br/>
            <a:r>
              <a:t>Purpose: team productivity and channel contribution.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440680"/>
            <a:ext cx="10652760" cy="502920"/>
          </a:xfrm>
          <a:prstGeom prst="roundRect">
            <a:avLst>
              <a:gd name="adj" fmla="val 12000"/>
            </a:avLst>
          </a:prstGeom>
          <a:solidFill>
            <a:srgbClr val="DDEEFF"/>
          </a:solidFill>
          <a:ln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59552"/>
            <a:ext cx="10241280" cy="246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42D4E"/>
                </a:solidFill>
                <a:latin typeface="Aptos"/>
              </a:defRPr>
            </a:pPr>
            <a:r>
              <a:t>Narrative flow: establish the overall result → diagnose product / market differences → investigate sales execution and channels.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08 / FINDINGS — OVERALL &amp;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Insight 1: overall performance is close to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08 / FINDINGS — OVERALL &amp;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Insight 1: overall performance is close to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340156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68580" cy="1188720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18488"/>
            <a:ext cx="30540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305409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~$189.61M</a:t>
            </a:r>
            <a:br/>
            <a:br/>
            <a:r>
              <a:t>Total revenue across synthetic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81328"/>
            <a:ext cx="340156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481328"/>
            <a:ext cx="68580" cy="1188720"/>
          </a:xfrm>
          <a:prstGeom prst="rect">
            <a:avLst/>
          </a:prstGeom>
          <a:solidFill>
            <a:srgbClr val="EB973E"/>
          </a:solidFill>
          <a:ln>
            <a:solidFill>
              <a:srgbClr val="EB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18488"/>
            <a:ext cx="30540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Achievement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84248"/>
            <a:ext cx="305409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~99.88%</a:t>
            </a:r>
            <a:br/>
            <a:br/>
            <a:r>
              <a:t>Revenue is slightly below aggregate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481328"/>
            <a:ext cx="3401568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481328"/>
            <a:ext cx="68580" cy="1188720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1618488"/>
            <a:ext cx="30540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YoY revenue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1984248"/>
            <a:ext cx="305409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~1.13%</a:t>
            </a:r>
            <a:br/>
            <a:br/>
            <a:r>
              <a:t>2025 revenue is modestly higher than 2024.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999232"/>
            <a:ext cx="5120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42D4E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401568"/>
            <a:ext cx="5029200" cy="1645920"/>
          </a:xfrm>
          <a:prstGeom prst="rect">
            <a:avLst/>
          </a:prstGeom>
          <a:noFill/>
        </p:spPr>
        <p:txBody>
          <a:bodyPr wrap="square" lIns="54864" rIns="36576" tIns="27432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Overall results appear near plan, but the aggregate can hide variation across products, regions and reps.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Small overall gaps still merit investigation: their causes cannot be inferred from revenue totals alone.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YoY growth is modest; compare monthly patterns before concluding that growth is stable.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99232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42D4E"/>
                </a:solidFill>
                <a:latin typeface="Aptos"/>
              </a:defRPr>
            </a:pPr>
            <a:r>
              <a:t>Recommended follow-up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3401568"/>
            <a:ext cx="4937760" cy="1645920"/>
          </a:xfrm>
          <a:prstGeom prst="rect">
            <a:avLst/>
          </a:prstGeom>
          <a:noFill/>
        </p:spPr>
        <p:txBody>
          <a:bodyPr wrap="square" lIns="54864" rIns="36576" tIns="27432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Confirm totals and achievement using final SQL output.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Review monthly variance and flag the largest negative gaps.</a:t>
            </a:r>
          </a:p>
          <a:p>
            <a:pPr>
              <a:spcAft>
                <a:spcPts val="8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Add prior-period comparisons and explain unusual spikes or dips with operational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596128"/>
            <a:ext cx="10652760" cy="530352"/>
          </a:xfrm>
          <a:prstGeom prst="roundRect">
            <a:avLst>
              <a:gd name="adj" fmla="val 12000"/>
            </a:avLst>
          </a:prstGeom>
          <a:solidFill>
            <a:srgbClr val="FFF4E1"/>
          </a:solidFill>
          <a:ln>
            <a:solidFill>
              <a:srgbClr val="FFF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705856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D4F14"/>
                </a:solidFill>
                <a:latin typeface="Aptos"/>
              </a:defRPr>
            </a:pPr>
            <a:r>
              <a:t>Validation note: revenue, achievement and growth figures are approximate prior outputs; reconcile before presenting.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09 / FINDINGS —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Insight 2: regional results are not uniform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481328"/>
          <a:ext cx="66751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45920"/>
                <a:gridCol w="1645920"/>
                <a:gridCol w="2103120"/>
              </a:tblGrid>
              <a:tr h="4953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Achievement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Initial reading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West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~$38.19M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~102.56%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Above target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North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~$42.15M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~102.42%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Above target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South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~$40.75M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~100.77%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Slightly above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East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~$31.17M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~97.14%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Below target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Central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~$37.35M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~95.95%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Largest achievement gap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18120" y="1536192"/>
            <a:ext cx="3474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42D4E"/>
                </a:solidFill>
                <a:latin typeface="Aptos"/>
              </a:defRPr>
            </a:pPr>
            <a:r>
              <a:t>How to interpret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65960"/>
            <a:ext cx="3429000" cy="2286000"/>
          </a:xfrm>
          <a:prstGeom prst="rect">
            <a:avLst/>
          </a:prstGeom>
          <a:noFill/>
        </p:spPr>
        <p:txBody>
          <a:bodyPr wrap="square" lIns="54864" rIns="36576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North leads revenue scale in the prior output.</a:t>
            </a:r>
          </a:p>
          <a:p>
            <a:pPr>
              <a:spcAft>
                <a:spcPts val="8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West has the highest reported achievement among these regions.</a:t>
            </a:r>
          </a:p>
          <a:p>
            <a:pPr>
              <a:spcAft>
                <a:spcPts val="8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Central and East merit investigation because achievement is below 100%.</a:t>
            </a:r>
          </a:p>
          <a:p>
            <a:pPr>
              <a:spcAft>
                <a:spcPts val="8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Do not assume geography caused the gap; check product mix, targets and rep coverage.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92040"/>
            <a:ext cx="10561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29200"/>
            <a:ext cx="101498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42D4E"/>
                </a:solidFill>
                <a:latin typeface="Aptos"/>
              </a:defRPr>
            </a:pPr>
            <a:r>
              <a:t>Recommendation: begin with a region drill-down—compare drug mix, representative performance, channel mix and monthly variance in the under-target regions. Prioritize by gap size and revenue exposure.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16752"/>
            <a:ext cx="1042416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D6C7D"/>
                </a:solidFill>
                <a:latin typeface="Aptos"/>
              </a:defRPr>
            </a:pPr>
            <a:r>
              <a:t>All figures are synthetic-data estimates; validate against current query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10 / FINDINGS —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Insight 3: product concentration and target attainment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17320"/>
          <a:ext cx="74980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508760"/>
                <a:gridCol w="1463040"/>
                <a:gridCol w="3108960"/>
              </a:tblGrid>
              <a:tr h="50863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Drug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Achievement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Illustrative interpretation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Oncora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~$48.78M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~102.31%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Largest revenue contributor; above target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Immunexa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~$38.06M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~98.92%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Large contributor; slightly below target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Neurovia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~$31.44M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~100.51%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Above target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Cardiova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~$20.47M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~96.81%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Below target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Arthrexia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~$19.91M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~99.38%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Near target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Glucozen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~$19.40M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~99.66%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Near target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Respira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~$11.54M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~98.19%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Smaller revenue contributor; below target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58200" y="1554480"/>
            <a:ext cx="2834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42D4E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1965960"/>
            <a:ext cx="2788920" cy="3154680"/>
          </a:xfrm>
          <a:prstGeom prst="rect">
            <a:avLst/>
          </a:prstGeom>
          <a:noFill/>
        </p:spPr>
        <p:txBody>
          <a:bodyPr wrap="square" lIns="54864" rIns="36576" tIns="27432" bIns="27432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Protect execution for high-revenue products.</a:t>
            </a:r>
          </a:p>
          <a:p>
            <a:pPr>
              <a:spcAft>
                <a:spcPts val="9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Investigate products below target by region and channel.</a:t>
            </a:r>
          </a:p>
          <a:p>
            <a:pPr>
              <a:spcAft>
                <a:spcPts val="9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Separate revenue scale from profitability; cost data is unavailable.</a:t>
            </a:r>
          </a:p>
          <a:p>
            <a:pPr>
              <a:spcAft>
                <a:spcPts val="9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Check whether product-level targets are set consistently.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71500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5D6C7D"/>
                </a:solidFill>
                <a:latin typeface="Aptos"/>
              </a:defRPr>
            </a:pPr>
            <a:r>
              <a:t>Avoid calling a product “best” based on revenue alone; consider target attainment, units, margin and strategic context when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11 / FINDINGS —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Insight 4: diagnose sales execution and channel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5230368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68580" cy="1371600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18488"/>
            <a:ext cx="48828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Representative scorecard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4882896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Rank by target achievement and revenue variance—not revenue alone. A high-revenue rep may still miss a larger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81328"/>
            <a:ext cx="5230368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481328"/>
            <a:ext cx="68580" cy="1371600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18488"/>
            <a:ext cx="48828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Channel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84248"/>
            <a:ext cx="4882896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Compare revenue contribution and units sold together. Volume and revenue can tell different stories when average selling prices differ.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5120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42D4E"/>
                </a:solidFill>
                <a:latin typeface="Aptos"/>
              </a:defRPr>
            </a:pPr>
            <a:r>
              <a:t>How to use the scatter plot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39312"/>
            <a:ext cx="4983480" cy="1508760"/>
          </a:xfrm>
          <a:prstGeom prst="rect">
            <a:avLst/>
          </a:prstGeom>
          <a:noFill/>
        </p:spPr>
        <p:txBody>
          <a:bodyPr wrap="square" lIns="54864" rIns="36576" tIns="27432" b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X-axis: total target; Y-axis: total revenue; each point should represent a sales representative.</a:t>
            </a:r>
          </a:p>
          <a:p>
            <a:pPr>
              <a:spcAft>
                <a:spcPts val="7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Points above the equality line exceed target; points below it miss target.</a:t>
            </a:r>
          </a:p>
          <a:p>
            <a:pPr>
              <a:spcAft>
                <a:spcPts val="7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Use tooltips for rep ID, achievement %, and revenue variance.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46120"/>
            <a:ext cx="4937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42D4E"/>
                </a:solidFill>
                <a:latin typeface="Aptos"/>
              </a:defRPr>
            </a:pPr>
            <a:r>
              <a:t>How to use channel visuals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39312"/>
            <a:ext cx="4892040" cy="1508760"/>
          </a:xfrm>
          <a:prstGeom prst="rect">
            <a:avLst/>
          </a:prstGeom>
          <a:noFill/>
        </p:spPr>
        <p:txBody>
          <a:bodyPr wrap="square" lIns="54864" rIns="36576" tIns="27432" b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Review channel revenue and unit contribution side by side.</a:t>
            </a:r>
          </a:p>
          <a:p>
            <a:pPr>
              <a:spcAft>
                <a:spcPts val="7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Investigate low achievement despite high volume or high revenue.</a:t>
            </a:r>
          </a:p>
          <a:p>
            <a:pPr>
              <a:spcAft>
                <a:spcPts val="7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Do not infer channel profitability without cost-to-serve and margin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532120"/>
            <a:ext cx="105613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650992"/>
            <a:ext cx="10149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142D4E"/>
                </a:solidFill>
                <a:latin typeface="Aptos"/>
              </a:defRPr>
            </a:pPr>
            <a:r>
              <a:t>Recommendation: create a monthly review list of the lowest-achievement reps and channels, then pair the numbers with territory, account, inventory and activity context.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12 /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Recommendations: prioritize, test and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603504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426464"/>
            <a:ext cx="27889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Priority 1 • Close the target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26464"/>
            <a:ext cx="731520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Start with Central and East region results and the lowest-achievement drug–region combinations. Quantify variance and check if it is persistent.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76856"/>
            <a:ext cx="73152" cy="603504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286000"/>
            <a:ext cx="27889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Priority 2 • Replicate high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286000"/>
            <a:ext cx="731520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Compare practices in above-target regions and representatives; test whether account coverage, product mix or channel choices explain the difference.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36391"/>
            <a:ext cx="73152" cy="603504"/>
          </a:xfrm>
          <a:prstGeom prst="rect">
            <a:avLst/>
          </a:prstGeom>
          <a:solidFill>
            <a:srgbClr val="EB973E"/>
          </a:solidFill>
          <a:ln>
            <a:solidFill>
              <a:srgbClr val="EB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45535"/>
            <a:ext cx="27889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Priority 3 • Improve product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145535"/>
            <a:ext cx="731520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Track product revenue, achievement and units together. Investigate below-target products without assuming low sales mean low profitability.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95928"/>
            <a:ext cx="73152" cy="603504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05072"/>
            <a:ext cx="27889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Priority 4 • Strengthen target setting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005072"/>
            <a:ext cx="731520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Review target allocation by month, region, product and representative to detect inconsistent or unrealistic baselines.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855464"/>
            <a:ext cx="73152" cy="603504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864607"/>
            <a:ext cx="27889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42D4E"/>
                </a:solidFill>
                <a:latin typeface="Aptos"/>
              </a:defRPr>
            </a:pPr>
            <a:r>
              <a:t>Priority 5 • Establish a review cadence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864607"/>
            <a:ext cx="731520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43041"/>
                </a:solidFill>
                <a:latin typeface="Aptos"/>
              </a:defRPr>
            </a:pPr>
            <a:r>
              <a:t>Use a monthly dashboard review: revenue, variance, achievement, product/region gaps, representative exceptions and assigned follow-up owners.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97880"/>
            <a:ext cx="10561320" cy="320040"/>
          </a:xfrm>
          <a:prstGeom prst="roundRect">
            <a:avLst>
              <a:gd name="adj" fmla="val 12000"/>
            </a:avLst>
          </a:prstGeom>
          <a:solidFill>
            <a:srgbClr val="DDEEFF"/>
          </a:solidFill>
          <a:ln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952744"/>
            <a:ext cx="102412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42D4E"/>
                </a:solidFill>
                <a:latin typeface="Aptos"/>
              </a:defRPr>
            </a:pPr>
            <a:r>
              <a:t>Treat recommendations as hypotheses to test; SQL patterns identify where to investigate, not why the pattern occurred.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13 /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Operationalize the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6984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645920"/>
                <a:gridCol w="4572000"/>
                <a:gridCol w="3246120"/>
              </a:tblGrid>
              <a:tr h="6126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Cadence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Success measure</a:t>
                      </a:r>
                    </a:p>
                  </a:txBody>
                  <a:tcPr marL="54864" marR="36576" marT="36576" marB="27432" anchor="ctr">
                    <a:solidFill>
                      <a:srgbClr val="142D4E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Weekly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Sales operations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Review reps and region exceptions; verify data quality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Exception list reviewed; owners assigned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Sales leadership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Review revenue, target gap, product mix and channel contribution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Achievement %, variance, trend and action closure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Quarterly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Commercial / finance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Revisit target allocation and product/channel economics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Target calibration; margin and cost analysis when available</a:t>
                      </a:r>
                    </a:p>
                  </a:txBody>
                  <a:tcPr marL="54864" marR="36576" marT="36576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Next data phase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Analytics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Add costs, margins, account/customer IDs, inventory and activity data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3041"/>
                          </a:solidFill>
                          <a:latin typeface="Aptos"/>
                        </a:defRPr>
                      </a:pPr>
                      <a:r>
                        <a:t>Profitability, retention and root-cause analysis</a:t>
                      </a:r>
                    </a:p>
                  </a:txBody>
                  <a:tcPr marL="54864" marR="36576" marT="36576" marB="27432" anchor="ctr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983480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42D4E"/>
                </a:solidFill>
                <a:latin typeface="Aptos"/>
              </a:defRPr>
            </a:pPr>
            <a:r>
              <a:t>Suggested monitoring thresholds (set with stakeholders)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76672"/>
            <a:ext cx="10241280" cy="777240"/>
          </a:xfrm>
          <a:prstGeom prst="rect">
            <a:avLst/>
          </a:prstGeom>
          <a:noFill/>
        </p:spPr>
        <p:txBody>
          <a:bodyPr wrap="square" lIns="54864" rIns="36576" tIns="27432" b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Flag achievement below 100% for review; escalate only when the gap is material or persists across periods.</a:t>
            </a:r>
          </a:p>
          <a:p>
            <a:pPr>
              <a:spcAft>
                <a:spcPts val="500"/>
              </a:spcAft>
              <a:defRPr sz="1100">
                <a:solidFill>
                  <a:srgbClr val="243041"/>
                </a:solidFill>
                <a:latin typeface="Aptos"/>
              </a:defRPr>
            </a:pPr>
            <a:r>
              <a:t>Flag sharp month-over-month changes and investigate data, seasonality, target changes and operational causes.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2476C7"/>
                </a:solidFill>
                <a:latin typeface="Aptos"/>
              </a:defRPr>
            </a:pPr>
            <a:r>
              <a:t>14 /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42D4E"/>
                </a:solidFill>
                <a:latin typeface="Aptos"/>
              </a:defRPr>
            </a:pPr>
            <a:r>
              <a:t>Limitations and what would make the analysis stronger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18520" cy="13716"/>
          </a:xfrm>
          <a:prstGeom prst="rect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5D6C7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5D6C7D"/>
                </a:solidFill>
                <a:latin typeface="Aptos"/>
              </a:defRPr>
            </a:pPr>
            <a:r>
              <a:t>PHARMACEUTICAL SALES ANALYTICS • SYNTHETIC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68580" cy="1417320"/>
          </a:xfrm>
          <a:prstGeom prst="rect">
            <a:avLst/>
          </a:prstGeom>
          <a:solidFill>
            <a:srgbClr val="2476C7"/>
          </a:solidFill>
          <a:ln>
            <a:solidFill>
              <a:srgbClr val="247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19"/>
            <a:ext cx="486460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What the current data supports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86460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Descriptive analysis of revenue, targets, units, time, product, region, channel and representative dimensions.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68580" cy="1417320"/>
          </a:xfrm>
          <a:prstGeom prst="rect">
            <a:avLst/>
          </a:prstGeom>
          <a:solidFill>
            <a:srgbClr val="EB973E"/>
          </a:solidFill>
          <a:ln>
            <a:solidFill>
              <a:srgbClr val="EB9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19"/>
            <a:ext cx="486460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42D4E"/>
                </a:solidFill>
                <a:latin typeface="Aptos"/>
              </a:defRPr>
            </a:pPr>
            <a:r>
              <a:t>What it does not 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86460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43041"/>
                </a:solidFill>
                <a:latin typeface="Aptos"/>
              </a:defRPr>
            </a:pPr>
            <a:r>
              <a:t>It cannot establish causal drivers, true market share, profitability, prescribing behavior, customer retention or inventory constraints.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42D4E"/>
                </a:solidFill>
                <a:latin typeface="Aptos"/>
              </a:defRPr>
            </a:pPr>
            <a:r>
              <a:t>Useful additional data for the next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730752"/>
            <a:ext cx="10241280" cy="1600200"/>
          </a:xfrm>
          <a:prstGeom prst="rect">
            <a:avLst/>
          </a:prstGeom>
          <a:noFill/>
        </p:spPr>
        <p:txBody>
          <a:bodyPr wrap="square" lIns="54864" rIns="36576" tIns="27432" bIns="2743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Cost of goods sold, discounts, rebates and channel cost-to-serve → gross margin / profitability.</a:t>
            </a:r>
          </a:p>
          <a:p>
            <a:pPr>
              <a:spcAft>
                <a:spcPts val="7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Account, customer and prescription identifiers → customer retention, frequency and mix.</a:t>
            </a:r>
          </a:p>
          <a:p>
            <a:pPr>
              <a:spcAft>
                <a:spcPts val="7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Inventory, stock-outs and delivery data → availability and fulfillment impact.</a:t>
            </a:r>
          </a:p>
          <a:p>
            <a:pPr>
              <a:spcAft>
                <a:spcPts val="7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Sales activities, territory assignments and target history → better root-cause investigation.</a:t>
            </a:r>
          </a:p>
          <a:p>
            <a:pPr>
              <a:spcAft>
                <a:spcPts val="700"/>
              </a:spcAft>
              <a:defRPr sz="1200">
                <a:solidFill>
                  <a:srgbClr val="243041"/>
                </a:solidFill>
                <a:latin typeface="Aptos"/>
              </a:defRPr>
            </a:pPr>
            <a:r>
              <a:t>Market / competitor data → credible market share and external benchmarking.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06440"/>
            <a:ext cx="10561320" cy="384048"/>
          </a:xfrm>
          <a:prstGeom prst="roundRect">
            <a:avLst>
              <a:gd name="adj" fmla="val 12000"/>
            </a:avLst>
          </a:prstGeom>
          <a:solidFill>
            <a:srgbClr val="FFF4E1"/>
          </a:solidFill>
          <a:ln>
            <a:solidFill>
              <a:srgbClr val="FFF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88736"/>
            <a:ext cx="10241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7D4F14"/>
                </a:solidFill>
                <a:latin typeface="Aptos"/>
              </a:defRPr>
            </a:pPr>
            <a:r>
              <a:t>Do not present synthetic results as actual pharmaceutical market findings.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From descriptive analytics to better commercial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74519"/>
            <a:ext cx="99669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0">
                <a:solidFill>
                  <a:srgbClr val="DCE7F5"/>
                </a:solidFill>
                <a:latin typeface="Aptos"/>
              </a:defRPr>
            </a:pPr>
            <a:r>
              <a:t>The project combines SQL-based validation and analysis with Power BI storytelling to identify performance patterns, quantify gaps and prioritize the next investigation.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246120"/>
            <a:ext cx="3017520" cy="54864"/>
          </a:xfrm>
          <a:prstGeom prst="rect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703320"/>
            <a:ext cx="5029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07408"/>
            <a:ext cx="5669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8CC8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350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B9CDE5"/>
                </a:solidFill>
                <a:latin typeface="Aptos"/>
              </a:defRPr>
            </a:pPr>
            <a:r>
              <a:t>Mihir Mishra • Pharmaceutical Sales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94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B9CDE5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